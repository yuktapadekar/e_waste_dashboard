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Generated (t)</c:v>
                </c:pt>
              </c:strCache>
            </c:strRef>
          </c:tx>
          <c:spPr>
            <a:solidFill>
              <a:srgbClr val="B759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Gangtok</c:v>
                  </c:pt>
                  <c:pt idx="1">
                    <c:v>Namchi</c:v>
                  </c:pt>
                  <c:pt idx="2">
                    <c:v>Gyalshing</c:v>
                  </c:pt>
                  <c:pt idx="3">
                    <c:v>Pakyong</c:v>
                  </c:pt>
                  <c:pt idx="4">
                    <c:v>Mangan</c:v>
                  </c:pt>
                  <c:pt idx="5">
                    <c:v>Soreng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52.5</c:v>
                </c:pt>
                <c:pt idx="2">
                  <c:v>52.5</c:v>
                </c:pt>
                <c:pt idx="3">
                  <c:v>31.5</c:v>
                </c:pt>
                <c:pt idx="4">
                  <c:v>28</c:v>
                </c:pt>
                <c:pt idx="5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Collected (t)</c:v>
                </c:pt>
              </c:strCache>
            </c:strRef>
          </c:tx>
          <c:spPr>
            <a:solidFill>
              <a:srgbClr val="D9A0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Gangtok</c:v>
                  </c:pt>
                  <c:pt idx="1">
                    <c:v>Namchi</c:v>
                  </c:pt>
                  <c:pt idx="2">
                    <c:v>Gyalshing</c:v>
                  </c:pt>
                  <c:pt idx="3">
                    <c:v>Pakyong</c:v>
                  </c:pt>
                  <c:pt idx="4">
                    <c:v>Mangan</c:v>
                  </c:pt>
                  <c:pt idx="5">
                    <c:v>Soreng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8.2</c:v>
                </c:pt>
                <c:pt idx="1">
                  <c:v>4.7</c:v>
                </c:pt>
                <c:pt idx="2">
                  <c:v>2.6</c:v>
                </c:pt>
                <c:pt idx="3">
                  <c:v>3.3</c:v>
                </c:pt>
                <c:pt idx="4">
                  <c:v>0.9</c:v>
                </c:pt>
                <c:pt idx="5">
                  <c:v>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4A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DFC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4A3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4A38"/>
                    </a:solidFill>
                    <a:latin typeface="Arial"/>
                  </a:rPr>
                  <a:t>Tonnes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4A3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4A3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75937"/>
              </a:solidFill>
              <a:effectLst/>
            </c:spPr>
          </c:dPt>
          <c:dPt>
            <c:idx val="1"/>
            <c:bubble3D val="0"/>
            <c:spPr>
              <a:solidFill>
                <a:srgbClr val="D9A02B"/>
              </a:solidFill>
              <a:effectLst/>
            </c:spPr>
          </c:dPt>
          <c:dPt>
            <c:idx val="2"/>
            <c:bubble3D val="0"/>
            <c:spPr>
              <a:solidFill>
                <a:srgbClr val="6B7C4F"/>
              </a:solidFill>
              <a:effectLst/>
            </c:spPr>
          </c:dPt>
          <c:dPt>
            <c:idx val="3"/>
            <c:bubble3D val="0"/>
            <c:spPr>
              <a:solidFill>
                <a:srgbClr val="8B6F4E"/>
              </a:solidFill>
              <a:effectLst/>
            </c:spPr>
          </c:dPt>
          <c:dPt>
            <c:idx val="4"/>
            <c:bubble3D val="0"/>
            <c:spPr>
              <a:solidFill>
                <a:srgbClr val="C9BFA8"/>
              </a:solidFill>
              <a:effectLst/>
            </c:spPr>
          </c:dPt>
          <c:dPt>
            <c:idx val="5"/>
            <c:bubble3D val="0"/>
            <c:spPr>
              <a:solidFill>
                <a:srgbClr val="E5DFC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3261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3261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3261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3261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3261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3261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Large/small equip.</c:v>
                </c:pt>
                <c:pt idx="1">
                  <c:v>IT &amp; telecom</c:v>
                </c:pt>
                <c:pt idx="2">
                  <c:v>Consumer electronics</c:v>
                </c:pt>
                <c:pt idx="3">
                  <c:v>Batteries</c:v>
                </c:pt>
                <c:pt idx="4">
                  <c:v>Lighting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33</c:v>
                </c:pt>
                <c:pt idx="1">
                  <c:v>27</c:v>
                </c:pt>
                <c:pt idx="2">
                  <c:v>23</c:v>
                </c:pt>
                <c:pt idx="3">
                  <c:v>9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75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SUB-NATIONAL E-WASTE SERIES  ·  INDIA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7589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E-Waste It Wisely at the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Sub-National Level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21792" y="2606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District-Level Assessment of Generation, Collection &amp; Recycling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 Sikkim, India — FY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2926080" cy="0"/>
          </a:xfrm>
          <a:prstGeom prst="line">
            <a:avLst/>
          </a:prstGeom>
          <a:noFill/>
          <a:ln w="28575">
            <a:solidFill>
              <a:srgbClr val="B75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7033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districts. One dashboard. A 5.9% capture rate against 310.5 tonnes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— the same collection-infrastructure gap documented across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developing regions, now visible at state scale.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5989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Tanmay Lalge  ·  Yukta Padekar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Vidyalankar Institute of Technology, Mumbai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366760" y="777240"/>
            <a:ext cx="3246120" cy="53492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CFB8"/>
            </a:solidFill>
            <a:prstDash val="solid"/>
          </a:ln>
          <a:effectLst>
            <a:outerShdw sx="100000" sy="100000" kx="0" ky="0" algn="bl" rotWithShape="0" blurRad="76200" dist="25400" dir="5400000">
              <a:srgbClr val="332619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95360" y="960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SIKKIM · SIX DISTRICTS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95360" y="141732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F4EFE3"/>
          </a:solidFill>
          <a:ln w="9525">
            <a:solidFill>
              <a:srgbClr val="D8CF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147218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Mangan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32520" y="174650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recycler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95560" y="1417320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B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 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95360" y="214884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F2DDD2"/>
          </a:solidFill>
          <a:ln w="9525">
            <a:solidFill>
              <a:srgbClr val="D8C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22037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Gangtok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32520" y="247802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of state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195560" y="2148840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75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120.0 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95360" y="288036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F4EFE3"/>
          </a:solidFill>
          <a:ln w="9525">
            <a:solidFill>
              <a:srgbClr val="D8CF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293522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Gyalshing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32520" y="320954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coverage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95560" y="2880360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B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 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595360" y="361188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F4EFE3"/>
          </a:solidFill>
          <a:ln w="9525">
            <a:solidFill>
              <a:srgbClr val="D8CF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36667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Pakyong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32520" y="394106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 present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195560" y="3611880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B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31.5 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595360" y="434340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F4EFE3"/>
          </a:solidFill>
          <a:ln w="9525">
            <a:solidFill>
              <a:srgbClr val="D8CF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32520" y="43982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Namchi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32520" y="467258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 present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195560" y="4343400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B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 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595360" y="507492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F4EFE3"/>
          </a:solidFill>
          <a:ln w="9525">
            <a:solidFill>
              <a:srgbClr val="D8CF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32520" y="512978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Soreng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32520" y="540410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recycler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195560" y="5074920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B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 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Sikkim State Pollution Control Board, E-Waste Management Dashboard, FY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Capture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and reporting are mature; formal collection is not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B7593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SHORTFALL</a:t>
            </a:r>
            <a:endParaRPr lang="en-US" sz="1500" dirty="0"/>
          </a:p>
        </p:txBody>
      </p:sp>
      <p:pic>
        <p:nvPicPr>
          <p:cNvPr id="6" name="Image 0" descr="icons/trendD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6712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310.5 t</a:t>
            </a:r>
            <a:endParaRPr lang="en-US" sz="3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6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statewide in FY 2026, across all six districts</a:t>
            </a:r>
            <a:endParaRPr lang="en-US" sz="3000" dirty="0"/>
          </a:p>
        </p:txBody>
      </p:sp>
      <p:pic>
        <p:nvPicPr>
          <p:cNvPr id="8" name="Image 1" descr="icons/mapP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089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03580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 t (5.9%)</a:t>
            </a:r>
            <a:endParaRPr lang="en-US" sz="3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6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collected — a roughly 17-to-1 generation-to-collection gap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868680" y="4023360"/>
            <a:ext cx="4800600" cy="0"/>
          </a:xfrm>
          <a:prstGeom prst="line">
            <a:avLst/>
          </a:prstGeom>
          <a:noFill/>
          <a:ln w="9525">
            <a:solidFill>
              <a:srgbClr val="D98F73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868680" y="420624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Gangtok — the best-resourced district — captures only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its own generation. Sikkim's 5.9% statewide capture rate sits well below the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 average reported for 2019.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17920" y="150876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6B7C4F"/>
          </a:solidFill>
          <a:ln/>
        </p:spPr>
      </p:sp>
      <p:sp>
        <p:nvSpPr>
          <p:cNvPr id="13" name="Text 9"/>
          <p:cNvSpPr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</a:t>
            </a:r>
            <a:endParaRPr lang="en-US" sz="1500" dirty="0"/>
          </a:p>
        </p:txBody>
      </p:sp>
      <p:pic>
        <p:nvPicPr>
          <p:cNvPr id="14" name="Image 2" descr="icons/recy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402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216712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 t/yr</a:t>
            </a:r>
            <a:endParaRPr lang="en-US" sz="3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recycling capacity across 3 authorised facilities</a:t>
            </a:r>
            <a:endParaRPr lang="en-US" sz="3000" dirty="0"/>
          </a:p>
        </p:txBody>
      </p:sp>
      <p:pic>
        <p:nvPicPr>
          <p:cNvPr id="16" name="Image 3" descr="icons/targ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10896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86600" y="303580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</a:t>
            </a:r>
            <a:endParaRPr lang="en-US" sz="3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 achievement against target — 12 of 20 producers fully compliant</a:t>
            </a:r>
            <a:endParaRPr lang="en-US" sz="3000" dirty="0"/>
          </a:p>
        </p:txBody>
      </p:sp>
      <p:sp>
        <p:nvSpPr>
          <p:cNvPr id="18" name="Shape 12"/>
          <p:cNvSpPr/>
          <p:nvPr/>
        </p:nvSpPr>
        <p:spPr>
          <a:xfrm>
            <a:off x="6492240" y="4023360"/>
            <a:ext cx="4800600" cy="0"/>
          </a:xfrm>
          <a:prstGeom prst="line">
            <a:avLst/>
          </a:prstGeom>
          <a:noFill/>
          <a:ln w="9525">
            <a:solidFill>
              <a:srgbClr val="B9C7A3"/>
            </a:solidFill>
            <a:prstDash val="dash"/>
          </a:ln>
        </p:spPr>
      </p:sp>
      <p:sp>
        <p:nvSpPr>
          <p:cNvPr id="19" name="Text 13"/>
          <p:cNvSpPr/>
          <p:nvPr/>
        </p:nvSpPr>
        <p:spPr>
          <a:xfrm>
            <a:off x="6492240" y="420624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capacity already exceeds total generation, and recyclers run at only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utilisation. The binding constraint is upstream collection, not downstream processing — a logistics problem, not an engineering one.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94360" y="63276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 Sikkim's constraint is not legislative absence — it is weak collection infrastructure, uneven district coverage, and limited informal-sector formalisation.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Sikkim SPCB E-Waste Management Dashboard, FY 2026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District Divide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Gangtok concentrates generation, recyclers, and outreach; three districts have none of the three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6675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8CFB8"/>
            </a:solidFill>
            <a:prstDash val="solid"/>
          </a:ln>
          <a:effectLst>
            <a:outerShdw sx="100000" sy="100000" kx="0" ky="0" algn="bl" rotWithShape="0" blurRad="76200" dist="25400" dir="5400000">
              <a:srgbClr val="332619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7276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vs. COLLECTED (TONNES)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1874520"/>
          <a:ext cx="6309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52360" y="1417320"/>
            <a:ext cx="41605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8CFB8"/>
            </a:solidFill>
            <a:prstDash val="solid"/>
          </a:ln>
          <a:effectLst>
            <a:outerShdw sx="100000" sy="100000" kx="0" ky="0" algn="bl" rotWithShape="0" blurRad="76200" dist="25400" dir="5400000">
              <a:srgbClr val="332619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26680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RATE &amp; COVERAGE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938528"/>
          <a:ext cx="3657600" cy="34290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777240"/>
                <a:gridCol w="68580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Recycler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Outrch.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Gangtok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Namchi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Pakyong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Gyalshing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Soreng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94360" y="57424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Gangtok alone generates </a:t>
            </a:r>
            <a:pPr indent="0" marL="0">
              <a:buNone/>
            </a:pPr>
            <a:r>
              <a:rPr lang="en-US" sz="1200" b="1" i="1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pPr indent="0" marL="0">
              <a:buNone/>
            </a:pPr>
            <a:r>
              <a:rPr lang="en-US" sz="1200" i="1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state total. Gyalshing, Mangan, and Soreng have no authorised recycler; Gyalshing and Mangan have received no awareness programme at all.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Sikkim SPCB E-Waste Management Dashboard, FY 2026 — Table I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Anatomy of the Waste Stream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Sikkim throws away, and who is licensed to process it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CFB8"/>
            </a:solidFill>
            <a:prstDash val="solid"/>
          </a:ln>
          <a:effectLst>
            <a:outerShdw sx="100000" sy="100000" kx="0" ky="0" algn="bl" rotWithShape="0" blurRad="76200" dist="25400" dir="5400000">
              <a:srgbClr val="332619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MIX BY CATEGORY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68680" y="1874520"/>
          <a:ext cx="27432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3794760" y="1993392"/>
            <a:ext cx="146304" cy="146304"/>
          </a:xfrm>
          <a:prstGeom prst="rect">
            <a:avLst/>
          </a:prstGeom>
          <a:solidFill>
            <a:srgbClr val="B75937"/>
          </a:solidFill>
          <a:ln/>
        </p:spPr>
      </p:sp>
      <p:sp>
        <p:nvSpPr>
          <p:cNvPr id="8" name="Text 5"/>
          <p:cNvSpPr/>
          <p:nvPr/>
        </p:nvSpPr>
        <p:spPr>
          <a:xfrm>
            <a:off x="4023360" y="19110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Large/small equip.  —  33%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794760" y="2414016"/>
            <a:ext cx="146304" cy="146304"/>
          </a:xfrm>
          <a:prstGeom prst="rect">
            <a:avLst/>
          </a:prstGeom>
          <a:solidFill>
            <a:srgbClr val="D9A02B"/>
          </a:solidFill>
          <a:ln/>
        </p:spPr>
      </p:sp>
      <p:sp>
        <p:nvSpPr>
          <p:cNvPr id="10" name="Text 7"/>
          <p:cNvSpPr/>
          <p:nvPr/>
        </p:nvSpPr>
        <p:spPr>
          <a:xfrm>
            <a:off x="4023360" y="2331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telecom  —  27%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794760" y="2834640"/>
            <a:ext cx="146304" cy="146304"/>
          </a:xfrm>
          <a:prstGeom prst="rect">
            <a:avLst/>
          </a:prstGeom>
          <a:solidFill>
            <a:srgbClr val="6B7C4F"/>
          </a:solidFill>
          <a:ln/>
        </p:spPr>
      </p:sp>
      <p:sp>
        <p:nvSpPr>
          <p:cNvPr id="12" name="Text 9"/>
          <p:cNvSpPr/>
          <p:nvPr/>
        </p:nvSpPr>
        <p:spPr>
          <a:xfrm>
            <a:off x="4023360" y="275234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electronics  —  23%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94760" y="3255264"/>
            <a:ext cx="146304" cy="146304"/>
          </a:xfrm>
          <a:prstGeom prst="rect">
            <a:avLst/>
          </a:prstGeom>
          <a:solidFill>
            <a:srgbClr val="8B6F4E"/>
          </a:solidFill>
          <a:ln/>
        </p:spPr>
      </p:sp>
      <p:sp>
        <p:nvSpPr>
          <p:cNvPr id="14" name="Text 11"/>
          <p:cNvSpPr/>
          <p:nvPr/>
        </p:nvSpPr>
        <p:spPr>
          <a:xfrm>
            <a:off x="4023360" y="31729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 —  9%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794760" y="3675888"/>
            <a:ext cx="146304" cy="146304"/>
          </a:xfrm>
          <a:prstGeom prst="rect">
            <a:avLst/>
          </a:prstGeom>
          <a:solidFill>
            <a:srgbClr val="C9BFA8"/>
          </a:solidFill>
          <a:ln/>
        </p:spPr>
      </p:sp>
      <p:sp>
        <p:nvSpPr>
          <p:cNvPr id="16" name="Text 13"/>
          <p:cNvSpPr/>
          <p:nvPr/>
        </p:nvSpPr>
        <p:spPr>
          <a:xfrm>
            <a:off x="4023360" y="35935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 —  4%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794760" y="4096512"/>
            <a:ext cx="146304" cy="146304"/>
          </a:xfrm>
          <a:prstGeom prst="rect">
            <a:avLst/>
          </a:prstGeom>
          <a:solidFill>
            <a:srgbClr val="E5DFCE"/>
          </a:solidFill>
          <a:ln/>
        </p:spPr>
      </p:sp>
      <p:sp>
        <p:nvSpPr>
          <p:cNvPr id="18" name="Text 15"/>
          <p:cNvSpPr/>
          <p:nvPr/>
        </p:nvSpPr>
        <p:spPr>
          <a:xfrm>
            <a:off x="4023360" y="40142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 —  4%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68680" y="5029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&amp; small equipment — bulkier, more hazardous, least likely to be captured informally — is the single largest category.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35040" y="141732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CFB8"/>
            </a:solidFill>
            <a:prstDash val="solid"/>
          </a:ln>
          <a:effectLst>
            <a:outerShdw sx="100000" sy="100000" kx="0" ky="0" algn="bl" rotWithShape="0" blurRad="76200" dist="25400" dir="5400000">
              <a:srgbClr val="332619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09360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RECYCLERS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20240"/>
          <a:ext cx="5029200" cy="16002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822960"/>
                <a:gridCol w="822960"/>
                <a:gridCol w="7315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Cap. (t/yr)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Sikkim Eco Dismantlers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Gangtok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Eastern Recyclers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Namchi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Himalayan E-Waste Sol.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Pakyong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6309360" y="3703320"/>
            <a:ext cx="5029200" cy="0"/>
          </a:xfrm>
          <a:prstGeom prst="line">
            <a:avLst/>
          </a:prstGeom>
          <a:noFill/>
          <a:ln w="9525">
            <a:solidFill>
              <a:srgbClr val="D8CFB8"/>
            </a:solidFill>
            <a:prstDash val="dash"/>
          </a:ln>
        </p:spPr>
      </p:sp>
      <p:pic>
        <p:nvPicPr>
          <p:cNvPr id="24" name="Image 0" descr="icons/factory_ol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886200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858000" y="384048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 t/yr capacity vs. 310.5 t generated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utilisation is only ~63%. All three facilities sit in just three of six districts — Gyalshing, Mangan, and Soreng have none.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Sikkim SPCB E-Waste Management Dashboard, FY 2026 — Table II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Human Toll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labour still carries the system, and outreach hasn't reached everyone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D8CFB8"/>
            </a:solidFill>
            <a:prstDash val="solid"/>
          </a:ln>
          <a:effectLst>
            <a:outerShdw sx="100000" sy="100000" kx="0" ky="0" algn="bl" rotWithShape="0" blurRad="76200" dist="25400" dir="5400000">
              <a:srgbClr val="332619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oval">
            <a:avLst/>
          </a:prstGeom>
          <a:solidFill>
            <a:srgbClr val="E4E9D8"/>
          </a:solidFill>
          <a:ln/>
        </p:spPr>
      </p:sp>
      <p:pic>
        <p:nvPicPr>
          <p:cNvPr id="6" name="Image 0" descr="icons/users_o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9280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23160"/>
            <a:ext cx="29361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WORKFORCE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29361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5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42%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68680" y="3291840"/>
            <a:ext cx="29361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97 identified informal e-waste workers are registered or trained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4069080"/>
            <a:ext cx="2936138" cy="0"/>
          </a:xfrm>
          <a:prstGeom prst="line">
            <a:avLst/>
          </a:prstGeom>
          <a:noFill/>
          <a:ln w="9525">
            <a:solidFill>
              <a:srgbClr val="D8CFB8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868680" y="4206240"/>
            <a:ext cx="293613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hotspot clusters — MG Marg (Gangtok), Namchi Scrap Market, and Pakyong Repair Cluster — show similar 40–47% registration, so the gap is broad-based, not localised.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353458" y="150876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D8CFB8"/>
            </a:solidFill>
            <a:prstDash val="solid"/>
          </a:ln>
          <a:effectLst>
            <a:outerShdw sx="100000" sy="100000" kx="0" ky="0" algn="bl" rotWithShape="0" blurRad="76200" dist="25400" dir="5400000">
              <a:srgbClr val="332619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27778" y="1783080"/>
            <a:ext cx="502920" cy="502920"/>
          </a:xfrm>
          <a:prstGeom prst="oval">
            <a:avLst/>
          </a:prstGeom>
          <a:solidFill>
            <a:srgbClr val="E4E9D8"/>
          </a:solidFill>
          <a:ln/>
        </p:spPr>
      </p:sp>
      <p:pic>
        <p:nvPicPr>
          <p:cNvPr id="14" name="Image 1" descr="icons/droplet_ol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506" y="189280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27778" y="2423160"/>
            <a:ext cx="29361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HEALTH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627778" y="2697480"/>
            <a:ext cx="29361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5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of 3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4627778" y="3291840"/>
            <a:ext cx="29361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sites shows contamination — minor water impact at Pakyong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627778" y="4069080"/>
            <a:ext cx="2936138" cy="0"/>
          </a:xfrm>
          <a:prstGeom prst="line">
            <a:avLst/>
          </a:prstGeom>
          <a:noFill/>
          <a:ln w="9525">
            <a:solidFill>
              <a:srgbClr val="D8CFB8"/>
            </a:solidFill>
            <a:prstDash val="dash"/>
          </a:ln>
        </p:spPr>
      </p:sp>
      <p:sp>
        <p:nvSpPr>
          <p:cNvPr id="19" name="Text 15"/>
          <p:cNvSpPr/>
          <p:nvPr/>
        </p:nvSpPr>
        <p:spPr>
          <a:xfrm>
            <a:off x="4627778" y="4206240"/>
            <a:ext cx="293613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people screened at two health camps; no camp yet held at Namchi Scrap Market. Air and soil are within limits at the other two sites — a favourable, early-stage picture.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8112557" y="150876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D8CFB8"/>
            </a:solidFill>
            <a:prstDash val="solid"/>
          </a:ln>
          <a:effectLst>
            <a:outerShdw sx="100000" sy="100000" kx="0" ky="0" algn="bl" rotWithShape="0" blurRad="76200" dist="25400" dir="5400000">
              <a:srgbClr val="332619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86877" y="1783080"/>
            <a:ext cx="502920" cy="502920"/>
          </a:xfrm>
          <a:prstGeom prst="oval">
            <a:avLst/>
          </a:prstGeom>
          <a:solidFill>
            <a:srgbClr val="E4E9D8"/>
          </a:solidFill>
          <a:ln/>
        </p:spPr>
      </p:sp>
      <p:pic>
        <p:nvPicPr>
          <p:cNvPr id="22" name="Image 2" descr="icons/megaphone_oli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605" y="1892808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86877" y="2423160"/>
            <a:ext cx="29361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REACH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386877" y="2697480"/>
            <a:ext cx="29361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5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of 6</a:t>
            </a:r>
            <a:endParaRPr lang="en-US" sz="3400" dirty="0"/>
          </a:p>
        </p:txBody>
      </p:sp>
      <p:sp>
        <p:nvSpPr>
          <p:cNvPr id="25" name="Text 20"/>
          <p:cNvSpPr/>
          <p:nvPr/>
        </p:nvSpPr>
        <p:spPr>
          <a:xfrm>
            <a:off x="8386877" y="3291840"/>
            <a:ext cx="29361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reached by an awareness campaign so far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386877" y="4069080"/>
            <a:ext cx="2936138" cy="0"/>
          </a:xfrm>
          <a:prstGeom prst="line">
            <a:avLst/>
          </a:prstGeom>
          <a:noFill/>
          <a:ln w="9525">
            <a:solidFill>
              <a:srgbClr val="D8CFB8"/>
            </a:solidFill>
            <a:prstDash val="dash"/>
          </a:ln>
        </p:spPr>
      </p:sp>
      <p:sp>
        <p:nvSpPr>
          <p:cNvPr id="27" name="Text 22"/>
          <p:cNvSpPr/>
          <p:nvPr/>
        </p:nvSpPr>
        <p:spPr>
          <a:xfrm>
            <a:off x="8386877" y="4206240"/>
            <a:ext cx="293613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1,580 people reached across three campaigns — led by an 850-person door-to-door drive in Gangtok. Gyalshing and Mangan have had no outreach at all.</a:t>
            </a:r>
            <a:endParaRPr lang="en-US" sz="1080" dirty="0"/>
          </a:p>
        </p:txBody>
      </p:sp>
      <p:sp>
        <p:nvSpPr>
          <p:cNvPr id="28" name="Text 2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Sikkim SPCB E-Waste Management Dashboard, FY 2026 — Tables III &amp; related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261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Roadmap to Closing the Gap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9875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priorities to move Sikkim from compliant on paper to captured in practice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3F3222"/>
          </a:solidFill>
          <a:ln w="12700">
            <a:solidFill>
              <a:srgbClr val="5A4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148840"/>
            <a:ext cx="548640" cy="548640"/>
          </a:xfrm>
          <a:prstGeom prst="oval">
            <a:avLst/>
          </a:prstGeom>
          <a:solidFill>
            <a:srgbClr val="B75937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pic>
        <p:nvPicPr>
          <p:cNvPr id="8" name="Image 0" descr="icons/layers_must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608" y="222199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" y="2834640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Expand Collection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50392" y="3291840"/>
            <a:ext cx="2093976" cy="0"/>
          </a:xfrm>
          <a:prstGeom prst="line">
            <a:avLst/>
          </a:prstGeom>
          <a:noFill/>
          <a:ln w="9525">
            <a:solidFill>
              <a:srgbClr val="5A4A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3429000"/>
            <a:ext cx="209397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collection points beyond the current 8 centres, prioritising bulky large/small equipment — 33% of the stream and least likely to be captured informally.</a:t>
            </a:r>
            <a:endParaRPr lang="en-US" sz="1100" dirty="0"/>
          </a:p>
        </p:txBody>
      </p:sp>
      <p:pic>
        <p:nvPicPr>
          <p:cNvPr id="12" name="Image 1" descr="icons/arrowRight_must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3721608"/>
            <a:ext cx="201168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29000" y="187452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3F3222"/>
          </a:solidFill>
          <a:ln w="12700">
            <a:solidFill>
              <a:srgbClr val="5A4A3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5032" y="2148840"/>
            <a:ext cx="548640" cy="548640"/>
          </a:xfrm>
          <a:prstGeom prst="oval">
            <a:avLst/>
          </a:prstGeom>
          <a:solidFill>
            <a:srgbClr val="B75937"/>
          </a:solidFill>
          <a:ln/>
        </p:spPr>
      </p:sp>
      <p:sp>
        <p:nvSpPr>
          <p:cNvPr id="15" name="Text 11"/>
          <p:cNvSpPr/>
          <p:nvPr/>
        </p:nvSpPr>
        <p:spPr>
          <a:xfrm>
            <a:off x="3685032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pic>
        <p:nvPicPr>
          <p:cNvPr id="16" name="Image 2" descr="icons/mapPin_must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22199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85032" y="2834640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Cover the Gaps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3685032" y="3291840"/>
            <a:ext cx="2093976" cy="0"/>
          </a:xfrm>
          <a:prstGeom prst="line">
            <a:avLst/>
          </a:prstGeom>
          <a:noFill/>
          <a:ln w="9525">
            <a:solidFill>
              <a:srgbClr val="5A4A3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685032" y="3429000"/>
            <a:ext cx="209397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recycling and outreach to Gyalshing, Mangan, and Soreng using shared or mobile collection points modelled on Gangtok's approach.</a:t>
            </a:r>
            <a:endParaRPr lang="en-US" sz="1100" dirty="0"/>
          </a:p>
        </p:txBody>
      </p:sp>
      <p:pic>
        <p:nvPicPr>
          <p:cNvPr id="20" name="Image 3" descr="icons/arrowRight_must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3721608"/>
            <a:ext cx="201168" cy="23774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263640" y="187452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3F3222"/>
          </a:solidFill>
          <a:ln w="12700">
            <a:solidFill>
              <a:srgbClr val="5A4A3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519672" y="2148840"/>
            <a:ext cx="548640" cy="548640"/>
          </a:xfrm>
          <a:prstGeom prst="oval">
            <a:avLst/>
          </a:prstGeom>
          <a:solidFill>
            <a:srgbClr val="B75937"/>
          </a:solidFill>
          <a:ln/>
        </p:spPr>
      </p:sp>
      <p:sp>
        <p:nvSpPr>
          <p:cNvPr id="23" name="Text 17"/>
          <p:cNvSpPr/>
          <p:nvPr/>
        </p:nvSpPr>
        <p:spPr>
          <a:xfrm>
            <a:off x="6519672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pic>
        <p:nvPicPr>
          <p:cNvPr id="24" name="Image 4" descr="icons/shield_must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2221992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519672" y="2834640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Formalise Labour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6519672" y="3291840"/>
            <a:ext cx="2093976" cy="0"/>
          </a:xfrm>
          <a:prstGeom prst="line">
            <a:avLst/>
          </a:prstGeom>
          <a:noFill/>
          <a:ln w="9525">
            <a:solidFill>
              <a:srgbClr val="5A4A3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519672" y="3429000"/>
            <a:ext cx="209397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train the 56 of 97 informal workers still uncovered, across all three hotspot clusters, with PPE included at registration.</a:t>
            </a:r>
            <a:endParaRPr lang="en-US" sz="1100" dirty="0"/>
          </a:p>
        </p:txBody>
      </p:sp>
      <p:pic>
        <p:nvPicPr>
          <p:cNvPr id="28" name="Image 5" descr="icons/arrowRight_must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968" y="3721608"/>
            <a:ext cx="201168" cy="237744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098280" y="187452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3F3222"/>
          </a:solidFill>
          <a:ln w="12700">
            <a:solidFill>
              <a:srgbClr val="5A4A38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9354312" y="2148840"/>
            <a:ext cx="548640" cy="548640"/>
          </a:xfrm>
          <a:prstGeom prst="oval">
            <a:avLst/>
          </a:prstGeom>
          <a:solidFill>
            <a:srgbClr val="B75937"/>
          </a:solidFill>
          <a:ln/>
        </p:spPr>
      </p:sp>
      <p:sp>
        <p:nvSpPr>
          <p:cNvPr id="31" name="Text 23"/>
          <p:cNvSpPr/>
          <p:nvPr/>
        </p:nvSpPr>
        <p:spPr>
          <a:xfrm>
            <a:off x="9354312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pic>
        <p:nvPicPr>
          <p:cNvPr id="32" name="Image 6" descr="icons/check_musta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2528" y="2221992"/>
            <a:ext cx="384048" cy="38404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354312" y="2834640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Reconcile &amp; Monitor</a:t>
            </a:r>
            <a:endParaRPr lang="en-US" sz="1600" dirty="0"/>
          </a:p>
        </p:txBody>
      </p:sp>
      <p:sp>
        <p:nvSpPr>
          <p:cNvPr id="34" name="Shape 25"/>
          <p:cNvSpPr/>
          <p:nvPr/>
        </p:nvSpPr>
        <p:spPr>
          <a:xfrm>
            <a:off x="9354312" y="3291840"/>
            <a:ext cx="2093976" cy="0"/>
          </a:xfrm>
          <a:prstGeom prst="line">
            <a:avLst/>
          </a:prstGeom>
          <a:noFill/>
          <a:ln w="9525">
            <a:solidFill>
              <a:srgbClr val="5A4A38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9354312" y="3429000"/>
            <a:ext cx="209397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83.9% EPR vs. 5.9% capture gap, run the outstanding Namchi health camp, and publish the dashboard quarterly instead of once.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59436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Sikkim's recycling capacity, EPR reporting, and regulatory monitoring already work. Collection logistics — not new law or new plants — is the lever most likely to move the 5.9% capture rate.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05BFBD7D7D0F459F2EB6DF2A577303" ma:contentTypeVersion="12" ma:contentTypeDescription="Create a new document." ma:contentTypeScope="" ma:versionID="8528867ffa347892931992dba061e8fc">
  <xsd:schema xmlns:xsd="http://www.w3.org/2001/XMLSchema" xmlns:xs="http://www.w3.org/2001/XMLSchema" xmlns:p="http://schemas.microsoft.com/office/2006/metadata/properties" xmlns:ns2="01a789ed-3b06-4a12-abcb-8250f314dd0b" xmlns:ns3="44678d20-5b6e-4792-b133-ca784477d689" targetNamespace="http://schemas.microsoft.com/office/2006/metadata/properties" ma:root="true" ma:fieldsID="3a6a2aa65aa1b5a2272dcd5b5e15d211" ns2:_="" ns3:_="">
    <xsd:import namespace="01a789ed-3b06-4a12-abcb-8250f314dd0b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789ed-3b06-4a12-abcb-8250f314dd0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9a17da5-126c-488b-b448-998f78a263bb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1a789ed-3b06-4a12-abcb-8250f314dd0b" xsi:nil="true"/>
    <lcf76f155ced4ddcb4097134ff3c332f xmlns="01a789ed-3b06-4a12-abcb-8250f314dd0b">
      <Terms xmlns="http://schemas.microsoft.com/office/infopath/2007/PartnerControls"/>
    </lcf76f155ced4ddcb4097134ff3c332f>
    <TaxCatchAll xmlns="44678d20-5b6e-4792-b133-ca784477d689" xsi:nil="true"/>
  </documentManagement>
</p:properties>
</file>

<file path=customXml/itemProps1.xml><?xml version="1.0" encoding="utf-8"?>
<ds:datastoreItem xmlns:ds="http://schemas.openxmlformats.org/officeDocument/2006/customXml" ds:itemID="{0B5681ED-0DD3-4519-9617-5B590AF285A4}"/>
</file>

<file path=customXml/itemProps2.xml><?xml version="1.0" encoding="utf-8"?>
<ds:datastoreItem xmlns:ds="http://schemas.openxmlformats.org/officeDocument/2006/customXml" ds:itemID="{7F68F8C4-4352-4011-BD2E-C6C36B696657}"/>
</file>

<file path=customXml/itemProps3.xml><?xml version="1.0" encoding="utf-8"?>
<ds:datastoreItem xmlns:ds="http://schemas.openxmlformats.org/officeDocument/2006/customXml" ds:itemID="{EA8CA721-5BEA-4583-BA25-F569AAA3140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2026-08-11T03:11:50Z</dcterms:created>
  <dcterms:modified xsi:type="dcterms:W3CDTF">2026-08-11T03:11:50Z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0x0101003705BFBD7D7D0F459F2EB6DF2A577303</vt:lpwstr>
  </property>
</Properties>
</file>